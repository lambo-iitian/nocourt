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53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51435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20440" y="0"/>
            <a:ext cx="54864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74320"/>
            <a:ext cx="512064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7432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828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71323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200" dirty="0"/>
          </a:p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2011680"/>
            <a:ext cx="2834640" cy="822960"/>
          </a:xfrm>
          <a:prstGeom prst="rect">
            <a:avLst/>
          </a:prstGeom>
          <a:solidFill>
            <a:srgbClr val="162F4D"/>
          </a:solidFill>
          <a:ln w="12700">
            <a:solidFill>
              <a:srgbClr val="162F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299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A726"/>
                </a:solidFill>
              </a:rPr>
              <a:t>1.5 Billion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ABC8"/>
                </a:solidFill>
              </a:rPr>
              <a:t>civil disputes unresolved annually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44368"/>
            <a:ext cx="1353312" cy="713232"/>
          </a:xfrm>
          <a:prstGeom prst="rect">
            <a:avLst/>
          </a:prstGeom>
          <a:solidFill>
            <a:srgbClr val="0A1A2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7180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96F3"/>
                </a:solidFill>
              </a:rPr>
              <a:t>4 Years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" y="32735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8"/>
                </a:solidFill>
              </a:rPr>
              <a:t>avg. Indian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EABC8"/>
                </a:solidFill>
              </a:rPr>
              <a:t>court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2944368"/>
            <a:ext cx="1353312" cy="713232"/>
          </a:xfrm>
          <a:prstGeom prst="rect">
            <a:avLst/>
          </a:prstGeom>
          <a:solidFill>
            <a:srgbClr val="0A1A2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97180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5350"/>
                </a:solidFill>
              </a:rPr>
              <a:t>Rs.50K+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27355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8"/>
                </a:solidFill>
              </a:rPr>
              <a:t>min. legal fees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EABC8"/>
                </a:solidFill>
              </a:rPr>
              <a:t>per dispute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767328"/>
            <a:ext cx="2834640" cy="640080"/>
          </a:xfrm>
          <a:prstGeom prst="rect">
            <a:avLst/>
          </a:prstGeom>
          <a:solidFill>
            <a:srgbClr val="0A1A2E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785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A047"/>
                </a:solidFill>
              </a:rPr>
              <a:t>Only 11%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8"/>
                </a:solidFill>
              </a:rPr>
              <a:t>of disputes ever reach formal resolution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45720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shouldn't require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8EA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lawyer or a fortune.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256032"/>
            <a:ext cx="5212080" cy="402336"/>
          </a:xfrm>
          <a:prstGeom prst="rect">
            <a:avLst/>
          </a:prstGeom>
          <a:solidFill>
            <a:srgbClr val="162F4D"/>
          </a:solidFill>
          <a:ln w="12700">
            <a:solidFill>
              <a:srgbClr val="162F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2560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Who faces this problem?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3320" y="256032"/>
            <a:ext cx="54864" cy="4023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804672"/>
            <a:ext cx="5212080" cy="731520"/>
          </a:xfrm>
          <a:prstGeom prst="rect">
            <a:avLst/>
          </a:prstGeom>
          <a:solidFill>
            <a:srgbClr val="162F4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804672"/>
            <a:ext cx="54864" cy="73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8778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Employees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11338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Face unpaid wages and wrongful terminations but cannot afford legal representation — most silently absorb the loss.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1645920"/>
            <a:ext cx="5212080" cy="731520"/>
          </a:xfrm>
          <a:prstGeom prst="rect">
            <a:avLst/>
          </a:prstGeom>
          <a:solidFill>
            <a:srgbClr val="162F4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1645920"/>
            <a:ext cx="54864" cy="73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719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Tenants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197510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Landlords routinely withhold security deposits and conduct illegal evictions, exploiting the power asymmetry.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03320" y="2487168"/>
            <a:ext cx="5212080" cy="731520"/>
          </a:xfrm>
          <a:prstGeom prst="rect">
            <a:avLst/>
          </a:prstGeom>
          <a:solidFill>
            <a:srgbClr val="162F4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487168"/>
            <a:ext cx="54864" cy="73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5603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Consumers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281635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Victims of fraud and defective products face a slow, bureaucratic redressal system with uncertain outcomes.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03320" y="3328416"/>
            <a:ext cx="5212080" cy="731520"/>
          </a:xfrm>
          <a:prstGeom prst="rect">
            <a:avLst/>
          </a:prstGeom>
          <a:solidFill>
            <a:srgbClr val="162F4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03320" y="3328416"/>
            <a:ext cx="54864" cy="73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4015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Small Businesses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365760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Contract breaches are common, yet litigation costs frequently exceed the disputed amount — making court pointless.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03320" y="4169664"/>
            <a:ext cx="5212080" cy="731520"/>
          </a:xfrm>
          <a:prstGeom prst="rect">
            <a:avLst/>
          </a:prstGeom>
          <a:solidFill>
            <a:srgbClr val="1E0808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03320" y="4169664"/>
            <a:ext cx="54864" cy="7315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42428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</a:rPr>
              <a:t>The Real Gap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44988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Lawyers are unaffordable. Courts take 4-6 years. Existing apps lack true AI — they provide forms, not resolution.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C7DE7C-A7A6-3C6D-FE40-FED05327B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1"/>
            <a:ext cx="1335025" cy="24688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1398268-D175-7039-B4D5-762ED4008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078992" cy="2468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47548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828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CD4"/>
                </a:solidFill>
              </a:rPr>
              <a:t>SOLUTION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48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LegalAI Resolver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64008" cy="3383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16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</a:rPr>
              <a:t>What Is LegalAI Resolver?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1755648"/>
            <a:ext cx="3904488" cy="2455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900" dirty="0" err="1">
                <a:solidFill>
                  <a:srgbClr val="1E293B"/>
                </a:solidFill>
              </a:rPr>
              <a:t>LegalAI</a:t>
            </a:r>
            <a:r>
              <a:rPr lang="en-US" sz="900" dirty="0">
                <a:solidFill>
                  <a:srgbClr val="1E293B"/>
                </a:solidFill>
              </a:rPr>
              <a:t> Resolver is a fully automated pre-litigation platform that converts any plain-English dispute description into a complete, legally-structured resolution — without lawyers, court filings, or delays.</a:t>
            </a:r>
            <a:endParaRPr lang="en-US" sz="900" dirty="0"/>
          </a:p>
          <a:p>
            <a:pPr>
              <a:spcAft>
                <a:spcPts val="400"/>
              </a:spcAft>
            </a:pP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The platform orchestrates 5 specialized AI agents in a sequential pipeline:</a:t>
            </a:r>
            <a:endParaRPr lang="en-US" sz="900" dirty="0"/>
          </a:p>
          <a:p>
            <a:pPr>
              <a:spcAft>
                <a:spcPts val="400"/>
              </a:spcAft>
            </a:pP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  • Intake Agent: classifies dispute type, extracts facts, detects severity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  • Legal Agent: maps applicable statutes with jurisdiction and section numbers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  • Analytics Agent: models win probability, costs, and settlement range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  • Document Agent: generates 3 separate legal PDFs (Demand Letter, Court File, Settlement Agreement)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  • Negotiation Agent: mediates a fair settlement across up to 3 rounds</a:t>
            </a:r>
            <a:endParaRPr lang="en-US" sz="900" dirty="0"/>
          </a:p>
          <a:p>
            <a:pPr>
              <a:spcAft>
                <a:spcPts val="400"/>
              </a:spcAft>
            </a:pP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E293B"/>
                </a:solidFill>
              </a:rPr>
              <a:t>End result: a signed settlement agreement delivered to both parties in minutes — not months.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409651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88720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80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ABC8"/>
                </a:solidFill>
              </a:rPr>
              <a:t>SPEED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</a:rPr>
              <a:t>Minutes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vs. 6 – 18 months through court proceedings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09651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64008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23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ABC8"/>
                </a:solidFill>
              </a:rPr>
              <a:t>COST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A047"/>
                </a:solidFill>
              </a:rPr>
              <a:t>Near Zero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37760" y="3044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vs. Rs.50,000+ in legal representation fees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09651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74720"/>
            <a:ext cx="64008" cy="10058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ABC8"/>
                </a:solidFill>
              </a:rPr>
              <a:t>AI INTELLIGENCE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794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A726"/>
                </a:solidFill>
              </a:rPr>
              <a:t>5 Agents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37760" y="4187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8"/>
                </a:solidFill>
              </a:rPr>
              <a:t>Intake + Law research + analytics + mediation + documents 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CD4"/>
                </a:solidFill>
              </a:rPr>
              <a:t>"Describe your dispute in plain English. Get applicable law, outcome probability, and a signed settlement — all automated."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AC55BC8-AD1B-296D-088B-B16E0B618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1"/>
            <a:ext cx="1335025" cy="2468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3BEC37-29A6-AF84-3CE5-4B55AC051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078992" cy="2468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47548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828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194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CD4"/>
                </a:solidFill>
              </a:rPr>
              <a:t>KEY FEATURES &amp; USER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" y="658368"/>
            <a:ext cx="676656" cy="67665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6583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16736" y="996696"/>
            <a:ext cx="402336" cy="0"/>
          </a:xfrm>
          <a:prstGeom prst="line">
            <a:avLst/>
          </a:prstGeom>
          <a:noFill/>
          <a:ln w="19050">
            <a:solidFill>
              <a:srgbClr val="8EAB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426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Describe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Dispute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66544" y="658368"/>
            <a:ext cx="676656" cy="6766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6583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79776" y="996696"/>
            <a:ext cx="402336" cy="0"/>
          </a:xfrm>
          <a:prstGeom prst="line">
            <a:avLst/>
          </a:prstGeom>
          <a:noFill/>
          <a:ln w="19050">
            <a:solidFill>
              <a:srgbClr val="8EAB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426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 Intake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&amp; Parse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9584" y="658368"/>
            <a:ext cx="676656" cy="676656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6583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2816" y="996696"/>
            <a:ext cx="402336" cy="0"/>
          </a:xfrm>
          <a:prstGeom prst="line">
            <a:avLst/>
          </a:prstGeom>
          <a:noFill/>
          <a:ln w="19050">
            <a:solidFill>
              <a:srgbClr val="8EA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426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Legal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Research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92624" y="658368"/>
            <a:ext cx="676656" cy="676656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6583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05856" y="996696"/>
            <a:ext cx="402336" cy="0"/>
          </a:xfrm>
          <a:prstGeom prst="line">
            <a:avLst/>
          </a:prstGeom>
          <a:noFill/>
          <a:ln w="19050">
            <a:solidFill>
              <a:srgbClr val="8EA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426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Analytics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&amp; Odds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55664" y="658368"/>
            <a:ext cx="676656" cy="67665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6583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68896" y="996696"/>
            <a:ext cx="402336" cy="0"/>
          </a:xfrm>
          <a:prstGeom prst="line">
            <a:avLst/>
          </a:prstGeom>
          <a:noFill/>
          <a:ln w="19050">
            <a:solidFill>
              <a:srgbClr val="8EA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426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AI-Guided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Mediation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18704" y="658368"/>
            <a:ext cx="676656" cy="6766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8704" y="6583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1426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Settlement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Agreement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2029968"/>
            <a:ext cx="4224528" cy="859536"/>
          </a:xfrm>
          <a:prstGeom prst="rect">
            <a:avLst/>
          </a:prstGeom>
          <a:solidFill>
            <a:srgbClr val="162F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2029968"/>
            <a:ext cx="54864" cy="8595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1031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Multi-Agent AI Pipeline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2377440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5 specialized agents run sequentially — each receives the prior agent's output as context, creating an intelligent cascading analysis chain.</a:t>
            </a:r>
          </a:p>
          <a:p>
            <a:r>
              <a:rPr lang="en-US" sz="850" dirty="0">
                <a:solidFill>
                  <a:srgbClr val="8EABC8"/>
                </a:solidFill>
              </a:rPr>
              <a:t>Agents : </a:t>
            </a:r>
            <a:r>
              <a:rPr lang="en-US" sz="900" dirty="0">
                <a:solidFill>
                  <a:srgbClr val="94A3B8"/>
                </a:solidFill>
              </a:rPr>
              <a:t>Intake &gt; Legal Research &gt; Analytics &gt; Document &gt; Negotiation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81728" y="2029968"/>
            <a:ext cx="4224528" cy="859536"/>
          </a:xfrm>
          <a:prstGeom prst="rect">
            <a:avLst/>
          </a:prstGeom>
          <a:solidFill>
            <a:srgbClr val="162F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2029968"/>
            <a:ext cx="54864" cy="8595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1031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Automated Legal Research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2377440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Maps applicable laws with section numbers, jurisdiction, relevance scores, and claimant rights. Covers Indian (IPC, TPA, CPA), US, and UK statutes across 12 dispute types.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2999232"/>
            <a:ext cx="4224528" cy="859536"/>
          </a:xfrm>
          <a:prstGeom prst="rect">
            <a:avLst/>
          </a:prstGeom>
          <a:solidFill>
            <a:srgbClr val="162F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" y="2999232"/>
            <a:ext cx="54864" cy="8595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0723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Probabilistic Case Analytics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3346704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Win probability (0-100%), court filing fee estimate, legal cost projection, expected timeline, confidence level, and evidence-based recommended settlement range.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81728" y="2999232"/>
            <a:ext cx="4224528" cy="859536"/>
          </a:xfrm>
          <a:prstGeom prst="rect">
            <a:avLst/>
          </a:prstGeom>
          <a:solidFill>
            <a:srgbClr val="162F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2999232"/>
            <a:ext cx="54864" cy="8595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0723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Mediator — 3-Round 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46320" y="3346704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Claimant and respondent submit offers independently each round. AI Mediator proposes a fair amount and reasoning. Settlement finalizes only when BOTH parties explicitly Accept.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1168" y="3968496"/>
            <a:ext cx="4224528" cy="859536"/>
          </a:xfrm>
          <a:prstGeom prst="rect">
            <a:avLst/>
          </a:prstGeom>
          <a:solidFill>
            <a:srgbClr val="162F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968496"/>
            <a:ext cx="54864" cy="8595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4164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</a:rPr>
              <a:t>3 Separate Legal Documents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" y="4315968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Each with its own dedicated AI agent and visual identity: Navy — Demand Letter (5-paragraph legal notice). Red — Court-Ready File (evidence checklist, filing steps, witnesses). Green — Settlement Agreement (9 clauses, dual signatures).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81728" y="3968496"/>
            <a:ext cx="4224528" cy="859536"/>
          </a:xfrm>
          <a:prstGeom prst="rect">
            <a:avLst/>
          </a:prstGeom>
          <a:solidFill>
            <a:srgbClr val="162F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81728" y="3968496"/>
            <a:ext cx="54864" cy="8595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04164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</a:rPr>
              <a:t>Azure-Powered Email System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46320" y="4315968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Respondent receives branded invite with unique secure portal link. AI proposal emails sent each round. Settlement agreement delivered with PDF download link to both parties.</a:t>
            </a:r>
            <a:endParaRPr lang="en-US" sz="8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BF185F1-9B59-EB06-18E8-850714E7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1"/>
            <a:ext cx="1335025" cy="24688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53243DC-ABD1-A7A2-D8B9-5EC5E29C6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078992" cy="2468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46888"/>
            <a:ext cx="45720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468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828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CD4"/>
                </a:solidFill>
              </a:rPr>
              <a:t>ARCHITECTURE &amp; TECHNOLOGY APPROACH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7899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FRONTEND 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5087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HTML · Tailwind CSS · Vanilla JS</a:t>
            </a:r>
          </a:p>
        </p:txBody>
      </p:sp>
      <p:sp>
        <p:nvSpPr>
          <p:cNvPr id="11" name="Text 9"/>
          <p:cNvSpPr/>
          <p:nvPr/>
        </p:nvSpPr>
        <p:spPr>
          <a:xfrm>
            <a:off x="402336" y="17830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/>
              <a:t>index.html — Claimant portal: dispute submission, 4-tab results dashboard</a:t>
            </a:r>
          </a:p>
        </p:txBody>
      </p:sp>
      <p:sp>
        <p:nvSpPr>
          <p:cNvPr id="12" name="Text 10"/>
          <p:cNvSpPr/>
          <p:nvPr/>
        </p:nvSpPr>
        <p:spPr>
          <a:xfrm>
            <a:off x="402336" y="20574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/>
              <a:t>respond.html — Respondent portal: offer submission, accept/reject proposals</a:t>
            </a:r>
          </a:p>
        </p:txBody>
      </p:sp>
      <p:sp>
        <p:nvSpPr>
          <p:cNvPr id="13" name="Text 11"/>
          <p:cNvSpPr/>
          <p:nvPr/>
        </p:nvSpPr>
        <p:spPr>
          <a:xfrm>
            <a:off x="402336" y="23317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/>
              <a:t>Deployed on Render</a:t>
            </a:r>
          </a:p>
        </p:txBody>
      </p:sp>
      <p:sp>
        <p:nvSpPr>
          <p:cNvPr id="14" name="Shape 12"/>
          <p:cNvSpPr/>
          <p:nvPr/>
        </p:nvSpPr>
        <p:spPr>
          <a:xfrm>
            <a:off x="2011680" y="2688336"/>
            <a:ext cx="822960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6883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828"/>
                </a:solidFill>
              </a:rPr>
              <a:t>HTTP / REST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39319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3931920" cy="34747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0175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BACKEND  (FastAPI + Python 3.11)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" y="343814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/>
              <a:t>14 REST endpoints: /analyze /negotiate /proposal-response /my-cases</a:t>
            </a:r>
          </a:p>
        </p:txBody>
      </p:sp>
      <p:sp>
        <p:nvSpPr>
          <p:cNvPr id="20" name="Text 18"/>
          <p:cNvSpPr/>
          <p:nvPr/>
        </p:nvSpPr>
        <p:spPr>
          <a:xfrm>
            <a:off x="402336" y="37124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/>
              <a:t>SQLite + db_service.py — full case &amp; session persistence</a:t>
            </a:r>
          </a:p>
        </p:txBody>
      </p:sp>
      <p:sp>
        <p:nvSpPr>
          <p:cNvPr id="21" name="Text 19"/>
          <p:cNvSpPr/>
          <p:nvPr/>
        </p:nvSpPr>
        <p:spPr>
          <a:xfrm>
            <a:off x="402336" y="3986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/>
              <a:t>Azure Communication Services — transactional email at every stage</a:t>
            </a:r>
          </a:p>
        </p:txBody>
      </p:sp>
      <p:sp>
        <p:nvSpPr>
          <p:cNvPr id="22" name="Text 20"/>
          <p:cNvSpPr/>
          <p:nvPr/>
        </p:nvSpPr>
        <p:spPr>
          <a:xfrm>
            <a:off x="402336" y="42611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 err="1"/>
              <a:t>ReportLab</a:t>
            </a:r>
            <a:r>
              <a:rPr lang="en-US" sz="900" dirty="0"/>
              <a:t> — 3 separate PDF generators (Demand, Court, Settlement)</a:t>
            </a:r>
          </a:p>
        </p:txBody>
      </p:sp>
      <p:sp>
        <p:nvSpPr>
          <p:cNvPr id="23" name="Text 21"/>
          <p:cNvSpPr/>
          <p:nvPr/>
        </p:nvSpPr>
        <p:spPr>
          <a:xfrm>
            <a:off x="402336" y="45354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 err="1"/>
              <a:t>ngrok</a:t>
            </a:r>
            <a:r>
              <a:rPr lang="en-US" sz="900" dirty="0"/>
              <a:t> — secure public HTTPS tunnel for live demo</a:t>
            </a: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EA587468-3D6D-A2B4-42E4-886902ABC62E}"/>
              </a:ext>
            </a:extLst>
          </p:cNvPr>
          <p:cNvSpPr/>
          <p:nvPr/>
        </p:nvSpPr>
        <p:spPr>
          <a:xfrm>
            <a:off x="4747451" y="1064704"/>
            <a:ext cx="4160520" cy="40346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0AB73E69-B324-BFF6-DA0F-E81F5C901473}"/>
              </a:ext>
            </a:extLst>
          </p:cNvPr>
          <p:cNvSpPr/>
          <p:nvPr/>
        </p:nvSpPr>
        <p:spPr>
          <a:xfrm>
            <a:off x="4857179" y="1099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AI AGENT STACK</a:t>
            </a:r>
            <a:endParaRPr lang="en-US" sz="105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87B57D9D-8E3D-AD7D-EF92-CE71B1177BE4}"/>
              </a:ext>
            </a:extLst>
          </p:cNvPr>
          <p:cNvSpPr/>
          <p:nvPr/>
        </p:nvSpPr>
        <p:spPr>
          <a:xfrm>
            <a:off x="4857179" y="11817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3" name="Shape 23">
            <a:extLst>
              <a:ext uri="{FF2B5EF4-FFF2-40B4-BE49-F238E27FC236}">
                <a16:creationId xmlns:a16="http://schemas.microsoft.com/office/drawing/2014/main" id="{E5D373B3-905D-D686-4665-EAA4999F51BE}"/>
              </a:ext>
            </a:extLst>
          </p:cNvPr>
          <p:cNvSpPr/>
          <p:nvPr/>
        </p:nvSpPr>
        <p:spPr>
          <a:xfrm>
            <a:off x="4857179" y="1437800"/>
            <a:ext cx="393192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4" name="Shape 24">
            <a:extLst>
              <a:ext uri="{FF2B5EF4-FFF2-40B4-BE49-F238E27FC236}">
                <a16:creationId xmlns:a16="http://schemas.microsoft.com/office/drawing/2014/main" id="{0EF067A1-EA5B-E8FB-FE29-260045DB8D83}"/>
              </a:ext>
            </a:extLst>
          </p:cNvPr>
          <p:cNvSpPr/>
          <p:nvPr/>
        </p:nvSpPr>
        <p:spPr>
          <a:xfrm>
            <a:off x="4857179" y="1437800"/>
            <a:ext cx="4572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5" name="Shape 25">
            <a:extLst>
              <a:ext uri="{FF2B5EF4-FFF2-40B4-BE49-F238E27FC236}">
                <a16:creationId xmlns:a16="http://schemas.microsoft.com/office/drawing/2014/main" id="{CE33D9B8-369E-1318-8E33-1F82A37FB4FB}"/>
              </a:ext>
            </a:extLst>
          </p:cNvPr>
          <p:cNvSpPr/>
          <p:nvPr/>
        </p:nvSpPr>
        <p:spPr>
          <a:xfrm>
            <a:off x="4902899" y="1437800"/>
            <a:ext cx="27432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F4F624F0-97F1-8286-88D9-2D0E07DC91BD}"/>
              </a:ext>
            </a:extLst>
          </p:cNvPr>
          <p:cNvSpPr/>
          <p:nvPr/>
        </p:nvSpPr>
        <p:spPr>
          <a:xfrm>
            <a:off x="4902899" y="143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A"/>
                </a:solidFill>
              </a:rPr>
              <a:t>1</a:t>
            </a:r>
            <a:endParaRPr lang="en-US" sz="1000" dirty="0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6A2D77CC-824D-DB81-89A4-34F43EBA3EE8}"/>
              </a:ext>
            </a:extLst>
          </p:cNvPr>
          <p:cNvSpPr/>
          <p:nvPr/>
        </p:nvSpPr>
        <p:spPr>
          <a:xfrm>
            <a:off x="5241227" y="1465232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Intake Agent</a:t>
            </a:r>
            <a:endParaRPr lang="en-US" sz="1000" dirty="0"/>
          </a:p>
        </p:txBody>
      </p:sp>
      <p:sp>
        <p:nvSpPr>
          <p:cNvPr id="88" name="Text 28">
            <a:extLst>
              <a:ext uri="{FF2B5EF4-FFF2-40B4-BE49-F238E27FC236}">
                <a16:creationId xmlns:a16="http://schemas.microsoft.com/office/drawing/2014/main" id="{42E2A1A1-D2A1-E83F-AA4D-EF5271630B87}"/>
              </a:ext>
            </a:extLst>
          </p:cNvPr>
          <p:cNvSpPr/>
          <p:nvPr/>
        </p:nvSpPr>
        <p:spPr>
          <a:xfrm>
            <a:off x="5241227" y="167554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Classifies 12 dispute types · Extracts key facts · Detects severity (LOW/MEDIUM/HIGH/CRIMINAL) · Separates monetary vs. non-monetary · Structures full JSON case object</a:t>
            </a:r>
            <a:endParaRPr lang="en-US" sz="800" dirty="0"/>
          </a:p>
        </p:txBody>
      </p:sp>
      <p:sp>
        <p:nvSpPr>
          <p:cNvPr id="89" name="Shape 29">
            <a:extLst>
              <a:ext uri="{FF2B5EF4-FFF2-40B4-BE49-F238E27FC236}">
                <a16:creationId xmlns:a16="http://schemas.microsoft.com/office/drawing/2014/main" id="{EE688C32-602F-BABD-C9EB-7D7365445FBC}"/>
              </a:ext>
            </a:extLst>
          </p:cNvPr>
          <p:cNvSpPr/>
          <p:nvPr/>
        </p:nvSpPr>
        <p:spPr>
          <a:xfrm>
            <a:off x="4857179" y="2151032"/>
            <a:ext cx="393192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0" name="Shape 30">
            <a:extLst>
              <a:ext uri="{FF2B5EF4-FFF2-40B4-BE49-F238E27FC236}">
                <a16:creationId xmlns:a16="http://schemas.microsoft.com/office/drawing/2014/main" id="{F1B46246-7B2D-7791-24EB-97EFCAE41137}"/>
              </a:ext>
            </a:extLst>
          </p:cNvPr>
          <p:cNvSpPr/>
          <p:nvPr/>
        </p:nvSpPr>
        <p:spPr>
          <a:xfrm>
            <a:off x="4857179" y="2151032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31">
            <a:extLst>
              <a:ext uri="{FF2B5EF4-FFF2-40B4-BE49-F238E27FC236}">
                <a16:creationId xmlns:a16="http://schemas.microsoft.com/office/drawing/2014/main" id="{EEDFE9B4-2173-D4A9-0780-F4B52FB22F45}"/>
              </a:ext>
            </a:extLst>
          </p:cNvPr>
          <p:cNvSpPr/>
          <p:nvPr/>
        </p:nvSpPr>
        <p:spPr>
          <a:xfrm>
            <a:off x="4902899" y="2151032"/>
            <a:ext cx="2743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Text 32">
            <a:extLst>
              <a:ext uri="{FF2B5EF4-FFF2-40B4-BE49-F238E27FC236}">
                <a16:creationId xmlns:a16="http://schemas.microsoft.com/office/drawing/2014/main" id="{D4D9972E-905C-308A-B616-94DE0BCA9FAB}"/>
              </a:ext>
            </a:extLst>
          </p:cNvPr>
          <p:cNvSpPr/>
          <p:nvPr/>
        </p:nvSpPr>
        <p:spPr>
          <a:xfrm>
            <a:off x="4902899" y="2151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A"/>
                </a:solidFill>
              </a:rPr>
              <a:t>2</a:t>
            </a:r>
            <a:endParaRPr lang="en-US" sz="1000" dirty="0"/>
          </a:p>
        </p:txBody>
      </p:sp>
      <p:sp>
        <p:nvSpPr>
          <p:cNvPr id="93" name="Text 33">
            <a:extLst>
              <a:ext uri="{FF2B5EF4-FFF2-40B4-BE49-F238E27FC236}">
                <a16:creationId xmlns:a16="http://schemas.microsoft.com/office/drawing/2014/main" id="{4E59F2A4-87DD-F04C-0E24-7B66A2BDCB2F}"/>
              </a:ext>
            </a:extLst>
          </p:cNvPr>
          <p:cNvSpPr/>
          <p:nvPr/>
        </p:nvSpPr>
        <p:spPr>
          <a:xfrm>
            <a:off x="5241227" y="2178464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Legal Agent</a:t>
            </a:r>
            <a:endParaRPr lang="en-US" sz="1000" dirty="0"/>
          </a:p>
        </p:txBody>
      </p:sp>
      <p:sp>
        <p:nvSpPr>
          <p:cNvPr id="94" name="Text 34">
            <a:extLst>
              <a:ext uri="{FF2B5EF4-FFF2-40B4-BE49-F238E27FC236}">
                <a16:creationId xmlns:a16="http://schemas.microsoft.com/office/drawing/2014/main" id="{1DC9655C-9E4F-2DEB-C09E-6897A57C74A2}"/>
              </a:ext>
            </a:extLst>
          </p:cNvPr>
          <p:cNvSpPr/>
          <p:nvPr/>
        </p:nvSpPr>
        <p:spPr>
          <a:xfrm>
            <a:off x="5241227" y="2388776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Maps applicable laws with section numbers, jurisdiction, relevance scores, and claimant rights · Identifies respondent defenses · India, US, UK coverage</a:t>
            </a:r>
            <a:endParaRPr lang="en-US" sz="800" dirty="0"/>
          </a:p>
        </p:txBody>
      </p:sp>
      <p:sp>
        <p:nvSpPr>
          <p:cNvPr id="95" name="Shape 35">
            <a:extLst>
              <a:ext uri="{FF2B5EF4-FFF2-40B4-BE49-F238E27FC236}">
                <a16:creationId xmlns:a16="http://schemas.microsoft.com/office/drawing/2014/main" id="{4B1D5482-043C-F73E-47C6-D0AD6BC23EF5}"/>
              </a:ext>
            </a:extLst>
          </p:cNvPr>
          <p:cNvSpPr/>
          <p:nvPr/>
        </p:nvSpPr>
        <p:spPr>
          <a:xfrm>
            <a:off x="4857179" y="2864264"/>
            <a:ext cx="393192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6" name="Shape 36">
            <a:extLst>
              <a:ext uri="{FF2B5EF4-FFF2-40B4-BE49-F238E27FC236}">
                <a16:creationId xmlns:a16="http://schemas.microsoft.com/office/drawing/2014/main" id="{A650977E-36B5-CEAA-A80C-693D413527EA}"/>
              </a:ext>
            </a:extLst>
          </p:cNvPr>
          <p:cNvSpPr/>
          <p:nvPr/>
        </p:nvSpPr>
        <p:spPr>
          <a:xfrm>
            <a:off x="4857179" y="2864264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3A9C21E9-2020-22B2-8F50-CB95BC22EBC2}"/>
              </a:ext>
            </a:extLst>
          </p:cNvPr>
          <p:cNvSpPr/>
          <p:nvPr/>
        </p:nvSpPr>
        <p:spPr>
          <a:xfrm>
            <a:off x="4902899" y="2864264"/>
            <a:ext cx="2743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8" name="Text 38">
            <a:extLst>
              <a:ext uri="{FF2B5EF4-FFF2-40B4-BE49-F238E27FC236}">
                <a16:creationId xmlns:a16="http://schemas.microsoft.com/office/drawing/2014/main" id="{BF33277A-E505-4F62-32C3-F62D09806BEA}"/>
              </a:ext>
            </a:extLst>
          </p:cNvPr>
          <p:cNvSpPr/>
          <p:nvPr/>
        </p:nvSpPr>
        <p:spPr>
          <a:xfrm>
            <a:off x="4902899" y="2864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A"/>
                </a:solidFill>
              </a:rPr>
              <a:t>3</a:t>
            </a:r>
            <a:endParaRPr lang="en-US" sz="1000" dirty="0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69E6F192-F8BA-B465-E3C3-663D5D07A51B}"/>
              </a:ext>
            </a:extLst>
          </p:cNvPr>
          <p:cNvSpPr/>
          <p:nvPr/>
        </p:nvSpPr>
        <p:spPr>
          <a:xfrm>
            <a:off x="5241227" y="2891696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 Agent</a:t>
            </a:r>
            <a:endParaRPr lang="en-US" sz="1000" dirty="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2BA2B42F-60BF-CD1C-5408-B2FF69CA7946}"/>
              </a:ext>
            </a:extLst>
          </p:cNvPr>
          <p:cNvSpPr/>
          <p:nvPr/>
        </p:nvSpPr>
        <p:spPr>
          <a:xfrm>
            <a:off x="5241227" y="310200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Win probability 0–100% · Court filing fee estimate · Legal cost projection · Confidence level · Recommended settlement range (min/optimal/max)</a:t>
            </a:r>
            <a:endParaRPr lang="en-US" sz="800" dirty="0"/>
          </a:p>
        </p:txBody>
      </p:sp>
      <p:sp>
        <p:nvSpPr>
          <p:cNvPr id="101" name="Shape 41">
            <a:extLst>
              <a:ext uri="{FF2B5EF4-FFF2-40B4-BE49-F238E27FC236}">
                <a16:creationId xmlns:a16="http://schemas.microsoft.com/office/drawing/2014/main" id="{61D316AD-3F6F-3F1B-DE9C-3037803933CA}"/>
              </a:ext>
            </a:extLst>
          </p:cNvPr>
          <p:cNvSpPr/>
          <p:nvPr/>
        </p:nvSpPr>
        <p:spPr>
          <a:xfrm>
            <a:off x="4857179" y="3577496"/>
            <a:ext cx="393192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2" name="Shape 42">
            <a:extLst>
              <a:ext uri="{FF2B5EF4-FFF2-40B4-BE49-F238E27FC236}">
                <a16:creationId xmlns:a16="http://schemas.microsoft.com/office/drawing/2014/main" id="{F79D09C1-D81D-87D5-6DA5-060627C8DD56}"/>
              </a:ext>
            </a:extLst>
          </p:cNvPr>
          <p:cNvSpPr/>
          <p:nvPr/>
        </p:nvSpPr>
        <p:spPr>
          <a:xfrm>
            <a:off x="4857179" y="3577496"/>
            <a:ext cx="457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3" name="Shape 43">
            <a:extLst>
              <a:ext uri="{FF2B5EF4-FFF2-40B4-BE49-F238E27FC236}">
                <a16:creationId xmlns:a16="http://schemas.microsoft.com/office/drawing/2014/main" id="{552003A1-50AC-5C62-81F7-F4DE2DFB0277}"/>
              </a:ext>
            </a:extLst>
          </p:cNvPr>
          <p:cNvSpPr/>
          <p:nvPr/>
        </p:nvSpPr>
        <p:spPr>
          <a:xfrm>
            <a:off x="4902899" y="357749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" name="Text 44">
            <a:extLst>
              <a:ext uri="{FF2B5EF4-FFF2-40B4-BE49-F238E27FC236}">
                <a16:creationId xmlns:a16="http://schemas.microsoft.com/office/drawing/2014/main" id="{9C5468DE-AF76-6D11-F1AA-A8B399E30E22}"/>
              </a:ext>
            </a:extLst>
          </p:cNvPr>
          <p:cNvSpPr/>
          <p:nvPr/>
        </p:nvSpPr>
        <p:spPr>
          <a:xfrm>
            <a:off x="4902899" y="3577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A"/>
                </a:solidFill>
              </a:rPr>
              <a:t>4</a:t>
            </a:r>
            <a:endParaRPr lang="en-US" sz="1000" dirty="0"/>
          </a:p>
        </p:txBody>
      </p:sp>
      <p:sp>
        <p:nvSpPr>
          <p:cNvPr id="105" name="Text 45">
            <a:extLst>
              <a:ext uri="{FF2B5EF4-FFF2-40B4-BE49-F238E27FC236}">
                <a16:creationId xmlns:a16="http://schemas.microsoft.com/office/drawing/2014/main" id="{1F6E6B4A-2F29-8A4E-A620-E6CA06832D38}"/>
              </a:ext>
            </a:extLst>
          </p:cNvPr>
          <p:cNvSpPr/>
          <p:nvPr/>
        </p:nvSpPr>
        <p:spPr>
          <a:xfrm>
            <a:off x="5241227" y="360492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 Agent</a:t>
            </a:r>
            <a:endParaRPr lang="en-US" sz="1000" dirty="0"/>
          </a:p>
        </p:txBody>
      </p:sp>
      <p:sp>
        <p:nvSpPr>
          <p:cNvPr id="106" name="Text 46">
            <a:extLst>
              <a:ext uri="{FF2B5EF4-FFF2-40B4-BE49-F238E27FC236}">
                <a16:creationId xmlns:a16="http://schemas.microsoft.com/office/drawing/2014/main" id="{6A00AE28-086B-B461-7DEA-DEAFF38315E8}"/>
              </a:ext>
            </a:extLst>
          </p:cNvPr>
          <p:cNvSpPr/>
          <p:nvPr/>
        </p:nvSpPr>
        <p:spPr>
          <a:xfrm>
            <a:off x="5241227" y="3815240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3 dedicated sub-agents: Demand Letter (5-paragraph legal notice) · Court-Ready File (facts, evidence checklist, filing steps, witnesses) · Settlement Agreement (9 clauses)</a:t>
            </a:r>
            <a:endParaRPr lang="en-US" sz="800" dirty="0"/>
          </a:p>
        </p:txBody>
      </p:sp>
      <p:sp>
        <p:nvSpPr>
          <p:cNvPr id="107" name="Shape 47">
            <a:extLst>
              <a:ext uri="{FF2B5EF4-FFF2-40B4-BE49-F238E27FC236}">
                <a16:creationId xmlns:a16="http://schemas.microsoft.com/office/drawing/2014/main" id="{6A7E2936-4739-0C38-27A3-F833BBD33505}"/>
              </a:ext>
            </a:extLst>
          </p:cNvPr>
          <p:cNvSpPr/>
          <p:nvPr/>
        </p:nvSpPr>
        <p:spPr>
          <a:xfrm>
            <a:off x="4857179" y="4290728"/>
            <a:ext cx="393192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8" name="Shape 48">
            <a:extLst>
              <a:ext uri="{FF2B5EF4-FFF2-40B4-BE49-F238E27FC236}">
                <a16:creationId xmlns:a16="http://schemas.microsoft.com/office/drawing/2014/main" id="{A0D715B2-2BD8-0EA1-6DD4-4F50B9DFEB25}"/>
              </a:ext>
            </a:extLst>
          </p:cNvPr>
          <p:cNvSpPr/>
          <p:nvPr/>
        </p:nvSpPr>
        <p:spPr>
          <a:xfrm>
            <a:off x="4857179" y="4290728"/>
            <a:ext cx="4572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9" name="Shape 49">
            <a:extLst>
              <a:ext uri="{FF2B5EF4-FFF2-40B4-BE49-F238E27FC236}">
                <a16:creationId xmlns:a16="http://schemas.microsoft.com/office/drawing/2014/main" id="{19C730F5-2E41-9F67-F585-B6E3032C1DB4}"/>
              </a:ext>
            </a:extLst>
          </p:cNvPr>
          <p:cNvSpPr/>
          <p:nvPr/>
        </p:nvSpPr>
        <p:spPr>
          <a:xfrm>
            <a:off x="4902899" y="4290728"/>
            <a:ext cx="27432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0" name="Text 50">
            <a:extLst>
              <a:ext uri="{FF2B5EF4-FFF2-40B4-BE49-F238E27FC236}">
                <a16:creationId xmlns:a16="http://schemas.microsoft.com/office/drawing/2014/main" id="{13BD6F85-2E96-F0E2-E247-AF7B5447CFA3}"/>
              </a:ext>
            </a:extLst>
          </p:cNvPr>
          <p:cNvSpPr/>
          <p:nvPr/>
        </p:nvSpPr>
        <p:spPr>
          <a:xfrm>
            <a:off x="4902899" y="4290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A"/>
                </a:solidFill>
              </a:rPr>
              <a:t>5</a:t>
            </a:r>
            <a:endParaRPr lang="en-US" sz="1000" dirty="0"/>
          </a:p>
        </p:txBody>
      </p:sp>
      <p:sp>
        <p:nvSpPr>
          <p:cNvPr id="111" name="Text 51">
            <a:extLst>
              <a:ext uri="{FF2B5EF4-FFF2-40B4-BE49-F238E27FC236}">
                <a16:creationId xmlns:a16="http://schemas.microsoft.com/office/drawing/2014/main" id="{CF83DDFE-C6BA-C8D7-F688-8C4767C1B799}"/>
              </a:ext>
            </a:extLst>
          </p:cNvPr>
          <p:cNvSpPr/>
          <p:nvPr/>
        </p:nvSpPr>
        <p:spPr>
          <a:xfrm>
            <a:off x="5241227" y="4318160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Negotiation Agent</a:t>
            </a:r>
            <a:endParaRPr lang="en-US" sz="1000" dirty="0"/>
          </a:p>
        </p:txBody>
      </p:sp>
      <p:sp>
        <p:nvSpPr>
          <p:cNvPr id="112" name="Text 52">
            <a:extLst>
              <a:ext uri="{FF2B5EF4-FFF2-40B4-BE49-F238E27FC236}">
                <a16:creationId xmlns:a16="http://schemas.microsoft.com/office/drawing/2014/main" id="{F585FC6D-C4AE-902B-17E0-92A59AF4CF1B}"/>
              </a:ext>
            </a:extLst>
          </p:cNvPr>
          <p:cNvSpPr/>
          <p:nvPr/>
        </p:nvSpPr>
        <p:spPr>
          <a:xfrm>
            <a:off x="5241227" y="4528472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Analyzes both parties' offers each round · Proposes a fair amount with full reasoning · Gap analysis · Pressure points for both sides · Max 3 rounds</a:t>
            </a:r>
            <a:endParaRPr lang="en-US" sz="800" dirty="0"/>
          </a:p>
        </p:txBody>
      </p:sp>
      <p:sp>
        <p:nvSpPr>
          <p:cNvPr id="113" name="Shape 53">
            <a:extLst>
              <a:ext uri="{FF2B5EF4-FFF2-40B4-BE49-F238E27FC236}">
                <a16:creationId xmlns:a16="http://schemas.microsoft.com/office/drawing/2014/main" id="{6C92FE20-770E-CD07-9F27-E645591BF3A3}"/>
              </a:ext>
            </a:extLst>
          </p:cNvPr>
          <p:cNvSpPr/>
          <p:nvPr/>
        </p:nvSpPr>
        <p:spPr>
          <a:xfrm>
            <a:off x="4747451" y="5063396"/>
            <a:ext cx="416052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4" name="Text 54">
            <a:extLst>
              <a:ext uri="{FF2B5EF4-FFF2-40B4-BE49-F238E27FC236}">
                <a16:creationId xmlns:a16="http://schemas.microsoft.com/office/drawing/2014/main" id="{A77F00E0-B19D-0F61-7385-88C9B7E71DA5}"/>
              </a:ext>
            </a:extLst>
          </p:cNvPr>
          <p:cNvSpPr/>
          <p:nvPr/>
        </p:nvSpPr>
        <p:spPr>
          <a:xfrm>
            <a:off x="4765739" y="494909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5FF490D9-AE64-B3F5-106B-43CCD62D5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1"/>
            <a:ext cx="1335025" cy="24688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9632A9B-FE6B-08B5-96EA-578C9F51D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078992" cy="2468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475488" cy="2926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828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194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726"/>
                </a:solidFill>
              </a:rPr>
              <a:t>DESIGN DECISIONS &amp; TRADE-OFFS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685800"/>
            <a:ext cx="2743200" cy="347472"/>
          </a:xfrm>
          <a:prstGeom prst="rect">
            <a:avLst/>
          </a:prstGeom>
          <a:solidFill>
            <a:srgbClr val="003D1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85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3A047"/>
                </a:solidFill>
              </a:rPr>
              <a:t>DECISIONS MADE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685800"/>
            <a:ext cx="2743200" cy="347472"/>
          </a:xfrm>
          <a:prstGeom prst="rect">
            <a:avLst/>
          </a:prstGeom>
          <a:solidFill>
            <a:srgbClr val="3D000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685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5350"/>
                </a:solidFill>
              </a:rPr>
              <a:t>INTENTIONALLY DROPPED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6208" y="685800"/>
            <a:ext cx="2743200" cy="347472"/>
          </a:xfrm>
          <a:prstGeom prst="rect">
            <a:avLst/>
          </a:prstGeom>
          <a:solidFill>
            <a:srgbClr val="3D2000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685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726"/>
                </a:solidFill>
              </a:rPr>
              <a:t>CONSTRAINTS FACED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2066544"/>
            <a:ext cx="2743200" cy="822960"/>
          </a:xfrm>
          <a:prstGeom prst="rect">
            <a:avLst/>
          </a:prstGeom>
          <a:solidFill>
            <a:srgbClr val="0A1F10"/>
          </a:solidFill>
          <a:ln w="12700">
            <a:solidFill>
              <a:srgbClr val="2A5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066544"/>
            <a:ext cx="54864" cy="8229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1396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accent6"/>
                </a:solidFill>
              </a:rPr>
              <a:t>Unicode-Safe 3-Agent PDF System</a:t>
            </a:r>
          </a:p>
        </p:txBody>
      </p:sp>
      <p:sp>
        <p:nvSpPr>
          <p:cNvPr id="19" name="Text 17"/>
          <p:cNvSpPr/>
          <p:nvPr/>
        </p:nvSpPr>
        <p:spPr>
          <a:xfrm>
            <a:off x="329184" y="2395728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4A3B8"/>
                </a:solidFill>
              </a:rPr>
              <a:t>3 separate AI agents with distinct prompts + PDF layouts. Custom _safe() function pre-converts Rs., EUR etc. — fixes silent </a:t>
            </a:r>
            <a:r>
              <a:rPr lang="en-US" sz="800" dirty="0" err="1">
                <a:solidFill>
                  <a:srgbClr val="94A3B8"/>
                </a:solidFill>
              </a:rPr>
              <a:t>ReportLab</a:t>
            </a:r>
            <a:r>
              <a:rPr lang="en-US" sz="800" dirty="0">
                <a:solidFill>
                  <a:srgbClr val="94A3B8"/>
                </a:solidFill>
              </a:rPr>
              <a:t> crash on all currency symbols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2999232"/>
            <a:ext cx="2743200" cy="822960"/>
          </a:xfrm>
          <a:prstGeom prst="rect">
            <a:avLst/>
          </a:prstGeom>
          <a:solidFill>
            <a:srgbClr val="0A1F10"/>
          </a:solidFill>
          <a:ln w="12700">
            <a:solidFill>
              <a:srgbClr val="2A52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2999232"/>
            <a:ext cx="54864" cy="8229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</a:rPr>
              <a:t>3-Round Negotiation Cap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" y="3328416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Mirrors professional mediation practice, forces convergence, and prevents indefinite back-and-forth cycling.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3931920"/>
            <a:ext cx="2743200" cy="822960"/>
          </a:xfrm>
          <a:prstGeom prst="rect">
            <a:avLst/>
          </a:prstGeom>
          <a:solidFill>
            <a:srgbClr val="0A1F10"/>
          </a:solidFill>
          <a:ln w="12700">
            <a:solidFill>
              <a:srgbClr val="2A52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931920"/>
            <a:ext cx="54864" cy="8229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005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</a:rPr>
              <a:t>SQLite over PostgreSQL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" y="4261104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Zero-config, file-based storage is sufficient for prototype scale and eliminates infrastructure complexity.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18688" y="1133856"/>
            <a:ext cx="2743200" cy="822960"/>
          </a:xfrm>
          <a:prstGeom prst="rect">
            <a:avLst/>
          </a:prstGeom>
          <a:solidFill>
            <a:srgbClr val="1A0A0A"/>
          </a:solidFill>
          <a:ln w="12700">
            <a:solidFill>
              <a:srgbClr val="52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18688" y="1133856"/>
            <a:ext cx="54864" cy="822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12070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5350"/>
                </a:solidFill>
              </a:rPr>
              <a:t>User Authentication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6704" y="146304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Email-based case linking was sufficient for MVP scope; full auth adds friction without meaningful value at this stage.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18688" y="2066544"/>
            <a:ext cx="2743200" cy="822960"/>
          </a:xfrm>
          <a:prstGeom prst="rect">
            <a:avLst/>
          </a:prstGeom>
          <a:solidFill>
            <a:srgbClr val="1A0A0A"/>
          </a:solidFill>
          <a:ln w="12700">
            <a:solidFill>
              <a:srgbClr val="52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2066544"/>
            <a:ext cx="54864" cy="822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46704" y="21396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5350"/>
                </a:solidFill>
              </a:rPr>
              <a:t>Multi-language Support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46704" y="2395728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Prioritised English for MVP clarity and consistency; localisation is a clean post-hackathon addition.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18688" y="2999232"/>
            <a:ext cx="2743200" cy="822960"/>
          </a:xfrm>
          <a:prstGeom prst="rect">
            <a:avLst/>
          </a:prstGeom>
          <a:solidFill>
            <a:srgbClr val="1A0A0A"/>
          </a:solidFill>
          <a:ln w="12700">
            <a:solidFill>
              <a:srgbClr val="52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18688" y="2999232"/>
            <a:ext cx="54864" cy="822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46704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5350"/>
                </a:solidFill>
              </a:rPr>
              <a:t>Human Lawyer Review Loop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46704" y="3328416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AI-only pipeline keeps cost near zero — adding mandatory human review negates the core value proposition.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18688" y="3931920"/>
            <a:ext cx="2743200" cy="822960"/>
          </a:xfrm>
          <a:prstGeom prst="rect">
            <a:avLst/>
          </a:prstGeom>
          <a:solidFill>
            <a:srgbClr val="1A0A0A"/>
          </a:solidFill>
          <a:ln w="12700">
            <a:solidFill>
              <a:srgbClr val="522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8688" y="3931920"/>
            <a:ext cx="54864" cy="822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6704" y="4005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5350"/>
                </a:solidFill>
              </a:rPr>
              <a:t>Native Mobile App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46704" y="4261104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A responsive web interface addresses 90% of use cases; a native app is premature for a prototype submission.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36208" y="1167384"/>
            <a:ext cx="2743200" cy="822960"/>
          </a:xfrm>
          <a:prstGeom prst="rect">
            <a:avLst/>
          </a:prstGeom>
          <a:solidFill>
            <a:srgbClr val="181008"/>
          </a:solidFill>
          <a:ln w="12700">
            <a:solidFill>
              <a:srgbClr val="5C3A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6208" y="1167384"/>
            <a:ext cx="54864" cy="8229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12405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</a:rPr>
              <a:t>LLM Accuracy Limits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64224" y="1496568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JSON-mode prompting and low temperature reduce errors; however, legal accuracy is not formally verified.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2100072"/>
            <a:ext cx="2743200" cy="822960"/>
          </a:xfrm>
          <a:prstGeom prst="rect">
            <a:avLst/>
          </a:prstGeom>
          <a:solidFill>
            <a:srgbClr val="181008"/>
          </a:solidFill>
          <a:ln w="12700">
            <a:solidFill>
              <a:srgbClr val="5C3A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2100072"/>
            <a:ext cx="54864" cy="8229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21732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</a:rPr>
              <a:t>No Legal Enforceability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64224" y="2429256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Settlement agreements are AI-generated drafts and are not substitutes for lawyer-reviewed legal documents.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36208" y="3032760"/>
            <a:ext cx="2743200" cy="822960"/>
          </a:xfrm>
          <a:prstGeom prst="rect">
            <a:avLst/>
          </a:prstGeom>
          <a:solidFill>
            <a:srgbClr val="181008"/>
          </a:solidFill>
          <a:ln w="12700">
            <a:solidFill>
              <a:srgbClr val="5C3A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36208" y="3032760"/>
            <a:ext cx="54864" cy="8229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64224" y="3105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</a:rPr>
              <a:t>API Rate Limits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64224" y="3361944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Groq's free tier has per-minute request caps — production deployment would require a paid tier upgrade.</a:t>
            </a:r>
            <a:endParaRPr lang="en-US" sz="850" dirty="0"/>
          </a:p>
        </p:txBody>
      </p:sp>
      <p:sp>
        <p:nvSpPr>
          <p:cNvPr id="62" name="Shape 14">
            <a:extLst>
              <a:ext uri="{FF2B5EF4-FFF2-40B4-BE49-F238E27FC236}">
                <a16:creationId xmlns:a16="http://schemas.microsoft.com/office/drawing/2014/main" id="{457FE5BA-DD24-C94D-BD4D-66567F0C5E49}"/>
              </a:ext>
            </a:extLst>
          </p:cNvPr>
          <p:cNvSpPr/>
          <p:nvPr/>
        </p:nvSpPr>
        <p:spPr>
          <a:xfrm>
            <a:off x="216408" y="1159764"/>
            <a:ext cx="2743200" cy="822960"/>
          </a:xfrm>
          <a:prstGeom prst="rect">
            <a:avLst/>
          </a:prstGeom>
          <a:solidFill>
            <a:srgbClr val="0A1F10"/>
          </a:solidFill>
          <a:ln w="12700">
            <a:solidFill>
              <a:srgbClr val="2A5230"/>
            </a:solidFill>
            <a:prstDash val="solid"/>
          </a:ln>
        </p:spPr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03257AE3-C5DD-A7DC-AE02-D8704576A976}"/>
              </a:ext>
            </a:extLst>
          </p:cNvPr>
          <p:cNvSpPr/>
          <p:nvPr/>
        </p:nvSpPr>
        <p:spPr>
          <a:xfrm>
            <a:off x="216408" y="1159764"/>
            <a:ext cx="54864" cy="8229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BF4F2E7F-D9F0-F53C-0A37-0083802663B7}"/>
              </a:ext>
            </a:extLst>
          </p:cNvPr>
          <p:cNvSpPr/>
          <p:nvPr/>
        </p:nvSpPr>
        <p:spPr>
          <a:xfrm>
            <a:off x="344424" y="12329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</a:rPr>
              <a:t>Sequential Agent Design</a:t>
            </a:r>
            <a:endParaRPr lang="en-US" sz="95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C98A5944-4F90-25AC-AE2C-39492BDE5D67}"/>
              </a:ext>
            </a:extLst>
          </p:cNvPr>
          <p:cNvSpPr/>
          <p:nvPr/>
        </p:nvSpPr>
        <p:spPr>
          <a:xfrm>
            <a:off x="344424" y="1488948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C8"/>
                </a:solidFill>
              </a:rPr>
              <a:t>Each agent receives the prior agent's full output as context, creating an intelligent cascading chain of analysis.</a:t>
            </a:r>
            <a:endParaRPr lang="en-US" sz="85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EE955C0-7600-B8C0-CBFE-9357B135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1"/>
            <a:ext cx="1335025" cy="24688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940FED8-228E-F973-2612-33E7BE635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078992" cy="2468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46888"/>
            <a:ext cx="45720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468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828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CD4"/>
                </a:solidFill>
              </a:rPr>
              <a:t>CURRENT STATUS, LIMITATIONS &amp; NEXT STEPS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BC8"/>
                </a:solidFill>
              </a:rPr>
              <a:t>LegalAI Resolver  |  Microsoft UNLOCKED Hackathon  |  FastAPI  +  Groq LLaMA 3.3  +  Azure Communication Services  +  SQLite</a:t>
            </a:r>
            <a:endParaRPr lang="en-US" sz="850" dirty="0"/>
          </a:p>
        </p:txBody>
      </p:sp>
      <p:sp>
        <p:nvSpPr>
          <p:cNvPr id="72" name="Shape 4">
            <a:extLst>
              <a:ext uri="{FF2B5EF4-FFF2-40B4-BE49-F238E27FC236}">
                <a16:creationId xmlns:a16="http://schemas.microsoft.com/office/drawing/2014/main" id="{326F89EF-3893-BC06-C528-59EC4CF9D42C}"/>
              </a:ext>
            </a:extLst>
          </p:cNvPr>
          <p:cNvSpPr/>
          <p:nvPr/>
        </p:nvSpPr>
        <p:spPr>
          <a:xfrm>
            <a:off x="155608" y="975452"/>
            <a:ext cx="2907792" cy="22725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0D7B6EF4-490F-8247-8E1A-6DAA5DA5D748}"/>
              </a:ext>
            </a:extLst>
          </p:cNvPr>
          <p:cNvSpPr/>
          <p:nvPr/>
        </p:nvSpPr>
        <p:spPr>
          <a:xfrm>
            <a:off x="247048" y="939360"/>
            <a:ext cx="2743200" cy="29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FULLY FUNCTIONAL</a:t>
            </a:r>
            <a:endParaRPr lang="en-US" sz="95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FBE9186E-0ABD-9E54-8FE3-0D8D5413543A}"/>
              </a:ext>
            </a:extLst>
          </p:cNvPr>
          <p:cNvSpPr/>
          <p:nvPr/>
        </p:nvSpPr>
        <p:spPr>
          <a:xfrm>
            <a:off x="155608" y="1241968"/>
            <a:ext cx="2907792" cy="3502463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FF49632D-8FE7-9C3B-67A3-7F69D7A03A42}"/>
              </a:ext>
            </a:extLst>
          </p:cNvPr>
          <p:cNvSpPr/>
          <p:nvPr/>
        </p:nvSpPr>
        <p:spPr>
          <a:xfrm>
            <a:off x="247048" y="1296832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78C2525B-998A-F91E-DC47-1C163EF8ED76}"/>
              </a:ext>
            </a:extLst>
          </p:cNvPr>
          <p:cNvSpPr/>
          <p:nvPr/>
        </p:nvSpPr>
        <p:spPr>
          <a:xfrm>
            <a:off x="429928" y="1212248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Full dispute-to-settlement end-to-end flow</a:t>
            </a:r>
            <a:endParaRPr lang="en-US" sz="820" dirty="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C8F08FF6-C38D-52EC-A7E0-EEF6F924DD67}"/>
              </a:ext>
            </a:extLst>
          </p:cNvPr>
          <p:cNvSpPr/>
          <p:nvPr/>
        </p:nvSpPr>
        <p:spPr>
          <a:xfrm>
            <a:off x="247048" y="1589440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F00E6517-1DD0-9242-2F59-1701C1D8C4AC}"/>
              </a:ext>
            </a:extLst>
          </p:cNvPr>
          <p:cNvSpPr/>
          <p:nvPr/>
        </p:nvSpPr>
        <p:spPr>
          <a:xfrm>
            <a:off x="429928" y="1504856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All 5 AI agents with structured JSON output</a:t>
            </a:r>
            <a:endParaRPr lang="en-US" sz="820" dirty="0"/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898B912B-0C2A-4079-7687-083ABA35D79A}"/>
              </a:ext>
            </a:extLst>
          </p:cNvPr>
          <p:cNvSpPr/>
          <p:nvPr/>
        </p:nvSpPr>
        <p:spPr>
          <a:xfrm>
            <a:off x="247048" y="1882048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34732B3A-1D2E-8C4D-CB77-9F21B4879E9B}"/>
              </a:ext>
            </a:extLst>
          </p:cNvPr>
          <p:cNvSpPr/>
          <p:nvPr/>
        </p:nvSpPr>
        <p:spPr>
          <a:xfrm>
            <a:off x="429928" y="1797464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3-round negotiation with Accept / Reject per party</a:t>
            </a:r>
            <a:endParaRPr lang="en-US" sz="820" dirty="0"/>
          </a:p>
        </p:txBody>
      </p:sp>
      <p:sp>
        <p:nvSpPr>
          <p:cNvPr id="81" name="Shape 13">
            <a:extLst>
              <a:ext uri="{FF2B5EF4-FFF2-40B4-BE49-F238E27FC236}">
                <a16:creationId xmlns:a16="http://schemas.microsoft.com/office/drawing/2014/main" id="{7549CB60-0499-D503-9726-85D1C52791A3}"/>
              </a:ext>
            </a:extLst>
          </p:cNvPr>
          <p:cNvSpPr/>
          <p:nvPr/>
        </p:nvSpPr>
        <p:spPr>
          <a:xfrm>
            <a:off x="247048" y="2174656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14">
            <a:extLst>
              <a:ext uri="{FF2B5EF4-FFF2-40B4-BE49-F238E27FC236}">
                <a16:creationId xmlns:a16="http://schemas.microsoft.com/office/drawing/2014/main" id="{5B15E4C2-1B7C-8BAB-83E0-7E5D4F7D5577}"/>
              </a:ext>
            </a:extLst>
          </p:cNvPr>
          <p:cNvSpPr/>
          <p:nvPr/>
        </p:nvSpPr>
        <p:spPr>
          <a:xfrm>
            <a:off x="429928" y="2090072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3 separate PDFs with 3 dedicated AI agents</a:t>
            </a:r>
            <a:endParaRPr lang="en-US" sz="820" dirty="0"/>
          </a:p>
        </p:txBody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737FF026-241A-1ABD-77AF-178D5258CECB}"/>
              </a:ext>
            </a:extLst>
          </p:cNvPr>
          <p:cNvSpPr/>
          <p:nvPr/>
        </p:nvSpPr>
        <p:spPr>
          <a:xfrm>
            <a:off x="247048" y="2467264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4F349828-B2A3-20AF-332C-8D6AE739626E}"/>
              </a:ext>
            </a:extLst>
          </p:cNvPr>
          <p:cNvSpPr/>
          <p:nvPr/>
        </p:nvSpPr>
        <p:spPr>
          <a:xfrm>
            <a:off x="429928" y="2382680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Unicode-safe PDF generation (Rs. fix applied)</a:t>
            </a:r>
            <a:endParaRPr lang="en-US" sz="820" dirty="0"/>
          </a:p>
        </p:txBody>
      </p:sp>
      <p:sp>
        <p:nvSpPr>
          <p:cNvPr id="85" name="Shape 17">
            <a:extLst>
              <a:ext uri="{FF2B5EF4-FFF2-40B4-BE49-F238E27FC236}">
                <a16:creationId xmlns:a16="http://schemas.microsoft.com/office/drawing/2014/main" id="{3E97FA83-81A3-3A13-2D2A-7941ED036CE3}"/>
              </a:ext>
            </a:extLst>
          </p:cNvPr>
          <p:cNvSpPr/>
          <p:nvPr/>
        </p:nvSpPr>
        <p:spPr>
          <a:xfrm>
            <a:off x="247048" y="2759872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18">
            <a:extLst>
              <a:ext uri="{FF2B5EF4-FFF2-40B4-BE49-F238E27FC236}">
                <a16:creationId xmlns:a16="http://schemas.microsoft.com/office/drawing/2014/main" id="{1F7611CD-CF6C-96E1-DA70-A83A94D023C7}"/>
              </a:ext>
            </a:extLst>
          </p:cNvPr>
          <p:cNvSpPr/>
          <p:nvPr/>
        </p:nvSpPr>
        <p:spPr>
          <a:xfrm>
            <a:off x="429928" y="2675288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Respondent email invites via Azure Comm. Services</a:t>
            </a:r>
            <a:endParaRPr lang="en-US" sz="820" dirty="0"/>
          </a:p>
        </p:txBody>
      </p:sp>
      <p:sp>
        <p:nvSpPr>
          <p:cNvPr id="87" name="Shape 19">
            <a:extLst>
              <a:ext uri="{FF2B5EF4-FFF2-40B4-BE49-F238E27FC236}">
                <a16:creationId xmlns:a16="http://schemas.microsoft.com/office/drawing/2014/main" id="{5D06442C-2E62-2F19-142D-FD5B1BE69412}"/>
              </a:ext>
            </a:extLst>
          </p:cNvPr>
          <p:cNvSpPr/>
          <p:nvPr/>
        </p:nvSpPr>
        <p:spPr>
          <a:xfrm>
            <a:off x="247048" y="3052480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00AD238D-1200-62DE-051F-B8CFF7817BF5}"/>
              </a:ext>
            </a:extLst>
          </p:cNvPr>
          <p:cNvSpPr/>
          <p:nvPr/>
        </p:nvSpPr>
        <p:spPr>
          <a:xfrm>
            <a:off x="429928" y="2967896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Settlement PDF auto-generated and emailed</a:t>
            </a:r>
            <a:endParaRPr lang="en-US" sz="820" dirty="0"/>
          </a:p>
        </p:txBody>
      </p:sp>
      <p:sp>
        <p:nvSpPr>
          <p:cNvPr id="89" name="Shape 21">
            <a:extLst>
              <a:ext uri="{FF2B5EF4-FFF2-40B4-BE49-F238E27FC236}">
                <a16:creationId xmlns:a16="http://schemas.microsoft.com/office/drawing/2014/main" id="{E6125A5C-B709-A5B5-B35B-14546318E1BF}"/>
              </a:ext>
            </a:extLst>
          </p:cNvPr>
          <p:cNvSpPr/>
          <p:nvPr/>
        </p:nvSpPr>
        <p:spPr>
          <a:xfrm>
            <a:off x="247048" y="3345088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22">
            <a:extLst>
              <a:ext uri="{FF2B5EF4-FFF2-40B4-BE49-F238E27FC236}">
                <a16:creationId xmlns:a16="http://schemas.microsoft.com/office/drawing/2014/main" id="{5DE5C074-0692-961E-FA25-8C44A132B7B1}"/>
              </a:ext>
            </a:extLst>
          </p:cNvPr>
          <p:cNvSpPr/>
          <p:nvPr/>
        </p:nvSpPr>
        <p:spPr>
          <a:xfrm>
            <a:off x="429928" y="3260504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Secure respondent portal (respond.html)</a:t>
            </a:r>
            <a:endParaRPr lang="en-US" sz="820" dirty="0"/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BBE54D8B-EA44-9604-A21F-3A39F1B3CC08}"/>
              </a:ext>
            </a:extLst>
          </p:cNvPr>
          <p:cNvSpPr/>
          <p:nvPr/>
        </p:nvSpPr>
        <p:spPr>
          <a:xfrm>
            <a:off x="247048" y="3637696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450063FC-8CBF-58D0-72C6-3D3AD0695D21}"/>
              </a:ext>
            </a:extLst>
          </p:cNvPr>
          <p:cNvSpPr/>
          <p:nvPr/>
        </p:nvSpPr>
        <p:spPr>
          <a:xfrm>
            <a:off x="429928" y="3553112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Non-monetary disputes (apology, harassment, assault)</a:t>
            </a:r>
            <a:endParaRPr lang="en-US" sz="820" dirty="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D03A942C-6441-2FAD-5832-6DF0923A6C65}"/>
              </a:ext>
            </a:extLst>
          </p:cNvPr>
          <p:cNvSpPr/>
          <p:nvPr/>
        </p:nvSpPr>
        <p:spPr>
          <a:xfrm>
            <a:off x="247048" y="3930304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Text 26">
            <a:extLst>
              <a:ext uri="{FF2B5EF4-FFF2-40B4-BE49-F238E27FC236}">
                <a16:creationId xmlns:a16="http://schemas.microsoft.com/office/drawing/2014/main" id="{5AB03E2C-2660-4926-47A0-71AB22024F0D}"/>
              </a:ext>
            </a:extLst>
          </p:cNvPr>
          <p:cNvSpPr/>
          <p:nvPr/>
        </p:nvSpPr>
        <p:spPr>
          <a:xfrm>
            <a:off x="429928" y="3845720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Analysis-only mode — no respondent needed</a:t>
            </a:r>
            <a:endParaRPr lang="en-US" sz="820" dirty="0"/>
          </a:p>
        </p:txBody>
      </p:sp>
      <p:sp>
        <p:nvSpPr>
          <p:cNvPr id="95" name="Shape 27">
            <a:extLst>
              <a:ext uri="{FF2B5EF4-FFF2-40B4-BE49-F238E27FC236}">
                <a16:creationId xmlns:a16="http://schemas.microsoft.com/office/drawing/2014/main" id="{52382C0D-7E22-59EC-6EF6-0711E252A75F}"/>
              </a:ext>
            </a:extLst>
          </p:cNvPr>
          <p:cNvSpPr/>
          <p:nvPr/>
        </p:nvSpPr>
        <p:spPr>
          <a:xfrm>
            <a:off x="247048" y="4222912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3B411C1E-5E4D-E9DB-6438-449222085232}"/>
              </a:ext>
            </a:extLst>
          </p:cNvPr>
          <p:cNvSpPr/>
          <p:nvPr/>
        </p:nvSpPr>
        <p:spPr>
          <a:xfrm>
            <a:off x="429928" y="4138328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Email-based My Cases history dashboard</a:t>
            </a:r>
            <a:endParaRPr lang="en-US" sz="820" dirty="0"/>
          </a:p>
        </p:txBody>
      </p:sp>
      <p:sp>
        <p:nvSpPr>
          <p:cNvPr id="97" name="Shape 29">
            <a:extLst>
              <a:ext uri="{FF2B5EF4-FFF2-40B4-BE49-F238E27FC236}">
                <a16:creationId xmlns:a16="http://schemas.microsoft.com/office/drawing/2014/main" id="{8C2C00B8-4C33-2072-44F8-89D29AA768EC}"/>
              </a:ext>
            </a:extLst>
          </p:cNvPr>
          <p:cNvSpPr/>
          <p:nvPr/>
        </p:nvSpPr>
        <p:spPr>
          <a:xfrm>
            <a:off x="247048" y="4515520"/>
            <a:ext cx="109728" cy="1025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8" name="Text 30">
            <a:extLst>
              <a:ext uri="{FF2B5EF4-FFF2-40B4-BE49-F238E27FC236}">
                <a16:creationId xmlns:a16="http://schemas.microsoft.com/office/drawing/2014/main" id="{8394CF64-59D8-D7AC-A60B-0AF8B8D71532}"/>
              </a:ext>
            </a:extLst>
          </p:cNvPr>
          <p:cNvSpPr/>
          <p:nvPr/>
        </p:nvSpPr>
        <p:spPr>
          <a:xfrm>
            <a:off x="429928" y="4416648"/>
            <a:ext cx="2542032" cy="256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Criminal severity detection + police advisory</a:t>
            </a:r>
            <a:endParaRPr lang="en-US" sz="820" dirty="0"/>
          </a:p>
        </p:txBody>
      </p:sp>
      <p:sp>
        <p:nvSpPr>
          <p:cNvPr id="99" name="Shape 31">
            <a:extLst>
              <a:ext uri="{FF2B5EF4-FFF2-40B4-BE49-F238E27FC236}">
                <a16:creationId xmlns:a16="http://schemas.microsoft.com/office/drawing/2014/main" id="{4AB6F351-D0FD-9CC8-2E49-2E1F9CD5E670}"/>
              </a:ext>
            </a:extLst>
          </p:cNvPr>
          <p:cNvSpPr/>
          <p:nvPr/>
        </p:nvSpPr>
        <p:spPr>
          <a:xfrm>
            <a:off x="3144673" y="964692"/>
            <a:ext cx="2907792" cy="2373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E47380B8-8962-B609-DA5A-3B54819719F6}"/>
              </a:ext>
            </a:extLst>
          </p:cNvPr>
          <p:cNvSpPr/>
          <p:nvPr/>
        </p:nvSpPr>
        <p:spPr>
          <a:xfrm>
            <a:off x="3236113" y="915552"/>
            <a:ext cx="2743200" cy="300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2A4A"/>
                </a:solidFill>
              </a:rPr>
              <a:t>KNOWN LIMITATIONS</a:t>
            </a:r>
            <a:endParaRPr lang="en-US" sz="950" dirty="0"/>
          </a:p>
        </p:txBody>
      </p:sp>
      <p:sp>
        <p:nvSpPr>
          <p:cNvPr id="101" name="Shape 33">
            <a:extLst>
              <a:ext uri="{FF2B5EF4-FFF2-40B4-BE49-F238E27FC236}">
                <a16:creationId xmlns:a16="http://schemas.microsoft.com/office/drawing/2014/main" id="{E219E97D-03AD-C390-E30D-491A12CEC435}"/>
              </a:ext>
            </a:extLst>
          </p:cNvPr>
          <p:cNvSpPr/>
          <p:nvPr/>
        </p:nvSpPr>
        <p:spPr>
          <a:xfrm>
            <a:off x="3158961" y="1203872"/>
            <a:ext cx="2907792" cy="3540559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2" name="Shape 34">
            <a:extLst>
              <a:ext uri="{FF2B5EF4-FFF2-40B4-BE49-F238E27FC236}">
                <a16:creationId xmlns:a16="http://schemas.microsoft.com/office/drawing/2014/main" id="{47AE6F48-0ECC-1608-55DF-FFFFEA720C8D}"/>
              </a:ext>
            </a:extLst>
          </p:cNvPr>
          <p:cNvSpPr/>
          <p:nvPr/>
        </p:nvSpPr>
        <p:spPr>
          <a:xfrm>
            <a:off x="3236113" y="1258736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35">
            <a:extLst>
              <a:ext uri="{FF2B5EF4-FFF2-40B4-BE49-F238E27FC236}">
                <a16:creationId xmlns:a16="http://schemas.microsoft.com/office/drawing/2014/main" id="{174C002E-AD37-0ADE-57B6-B3D48F05A5D8}"/>
              </a:ext>
            </a:extLst>
          </p:cNvPr>
          <p:cNvSpPr/>
          <p:nvPr/>
        </p:nvSpPr>
        <p:spPr>
          <a:xfrm>
            <a:off x="3418993" y="1174152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Legal accuracy not formally verified by attorneys</a:t>
            </a:r>
            <a:endParaRPr lang="en-US" sz="820" dirty="0"/>
          </a:p>
        </p:txBody>
      </p:sp>
      <p:sp>
        <p:nvSpPr>
          <p:cNvPr id="104" name="Shape 36">
            <a:extLst>
              <a:ext uri="{FF2B5EF4-FFF2-40B4-BE49-F238E27FC236}">
                <a16:creationId xmlns:a16="http://schemas.microsoft.com/office/drawing/2014/main" id="{FD3C8AF1-38C5-13F1-2CF7-9FD423B1C916}"/>
              </a:ext>
            </a:extLst>
          </p:cNvPr>
          <p:cNvSpPr/>
          <p:nvPr/>
        </p:nvSpPr>
        <p:spPr>
          <a:xfrm>
            <a:off x="3236113" y="1551344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5" name="Text 37">
            <a:extLst>
              <a:ext uri="{FF2B5EF4-FFF2-40B4-BE49-F238E27FC236}">
                <a16:creationId xmlns:a16="http://schemas.microsoft.com/office/drawing/2014/main" id="{DE5619F9-8E21-68F6-26AB-30DED8F035F0}"/>
              </a:ext>
            </a:extLst>
          </p:cNvPr>
          <p:cNvSpPr/>
          <p:nvPr/>
        </p:nvSpPr>
        <p:spPr>
          <a:xfrm>
            <a:off x="3418993" y="1466760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Settlement agreements are AI-drafted — not lawyer-reviewed</a:t>
            </a:r>
            <a:endParaRPr lang="en-US" sz="820" dirty="0"/>
          </a:p>
        </p:txBody>
      </p:sp>
      <p:sp>
        <p:nvSpPr>
          <p:cNvPr id="106" name="Shape 38">
            <a:extLst>
              <a:ext uri="{FF2B5EF4-FFF2-40B4-BE49-F238E27FC236}">
                <a16:creationId xmlns:a16="http://schemas.microsoft.com/office/drawing/2014/main" id="{487D769C-6DFD-9632-C141-CFC6D0F4EAB4}"/>
              </a:ext>
            </a:extLst>
          </p:cNvPr>
          <p:cNvSpPr/>
          <p:nvPr/>
        </p:nvSpPr>
        <p:spPr>
          <a:xfrm>
            <a:off x="3236113" y="1843952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7" name="Text 39">
            <a:extLst>
              <a:ext uri="{FF2B5EF4-FFF2-40B4-BE49-F238E27FC236}">
                <a16:creationId xmlns:a16="http://schemas.microsoft.com/office/drawing/2014/main" id="{4164B8B6-5649-EF96-5683-E841B77E24A4}"/>
              </a:ext>
            </a:extLst>
          </p:cNvPr>
          <p:cNvSpPr/>
          <p:nvPr/>
        </p:nvSpPr>
        <p:spPr>
          <a:xfrm>
            <a:off x="3418993" y="1759368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PDFs lost on server restart (ephemeral storage)</a:t>
            </a:r>
            <a:endParaRPr lang="en-US" sz="820" dirty="0"/>
          </a:p>
        </p:txBody>
      </p:sp>
      <p:sp>
        <p:nvSpPr>
          <p:cNvPr id="108" name="Shape 40">
            <a:extLst>
              <a:ext uri="{FF2B5EF4-FFF2-40B4-BE49-F238E27FC236}">
                <a16:creationId xmlns:a16="http://schemas.microsoft.com/office/drawing/2014/main" id="{0B0BF945-AC4B-EBDA-2E66-1FC7A4F98690}"/>
              </a:ext>
            </a:extLst>
          </p:cNvPr>
          <p:cNvSpPr/>
          <p:nvPr/>
        </p:nvSpPr>
        <p:spPr>
          <a:xfrm>
            <a:off x="3236113" y="2136560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41">
            <a:extLst>
              <a:ext uri="{FF2B5EF4-FFF2-40B4-BE49-F238E27FC236}">
                <a16:creationId xmlns:a16="http://schemas.microsoft.com/office/drawing/2014/main" id="{434D3353-16C5-762B-F390-2E420A5F009B}"/>
              </a:ext>
            </a:extLst>
          </p:cNvPr>
          <p:cNvSpPr/>
          <p:nvPr/>
        </p:nvSpPr>
        <p:spPr>
          <a:xfrm>
            <a:off x="3418993" y="2051976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SQLite not suitable for concurrent multi-user production</a:t>
            </a:r>
            <a:endParaRPr lang="en-US" sz="820" dirty="0"/>
          </a:p>
        </p:txBody>
      </p:sp>
      <p:sp>
        <p:nvSpPr>
          <p:cNvPr id="110" name="Shape 42">
            <a:extLst>
              <a:ext uri="{FF2B5EF4-FFF2-40B4-BE49-F238E27FC236}">
                <a16:creationId xmlns:a16="http://schemas.microsoft.com/office/drawing/2014/main" id="{C46F5A97-8A2D-1477-1CAD-F42CBE838B0B}"/>
              </a:ext>
            </a:extLst>
          </p:cNvPr>
          <p:cNvSpPr/>
          <p:nvPr/>
        </p:nvSpPr>
        <p:spPr>
          <a:xfrm>
            <a:off x="3236113" y="2429168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1" name="Text 43">
            <a:extLst>
              <a:ext uri="{FF2B5EF4-FFF2-40B4-BE49-F238E27FC236}">
                <a16:creationId xmlns:a16="http://schemas.microsoft.com/office/drawing/2014/main" id="{F87CEEE7-4C5D-2C4B-EA21-21A32016F8AC}"/>
              </a:ext>
            </a:extLst>
          </p:cNvPr>
          <p:cNvSpPr/>
          <p:nvPr/>
        </p:nvSpPr>
        <p:spPr>
          <a:xfrm>
            <a:off x="3418993" y="2344584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No input sanitization or rate limiting yet</a:t>
            </a:r>
            <a:endParaRPr lang="en-US" sz="820" dirty="0"/>
          </a:p>
        </p:txBody>
      </p:sp>
      <p:sp>
        <p:nvSpPr>
          <p:cNvPr id="114" name="Shape 46">
            <a:extLst>
              <a:ext uri="{FF2B5EF4-FFF2-40B4-BE49-F238E27FC236}">
                <a16:creationId xmlns:a16="http://schemas.microsoft.com/office/drawing/2014/main" id="{AC49512B-8F65-98A3-8E15-F61324D2A8C5}"/>
              </a:ext>
            </a:extLst>
          </p:cNvPr>
          <p:cNvSpPr/>
          <p:nvPr/>
        </p:nvSpPr>
        <p:spPr>
          <a:xfrm>
            <a:off x="3236113" y="2635761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5" name="Text 47">
            <a:extLst>
              <a:ext uri="{FF2B5EF4-FFF2-40B4-BE49-F238E27FC236}">
                <a16:creationId xmlns:a16="http://schemas.microsoft.com/office/drawing/2014/main" id="{135D14A6-CA5A-1F7B-0005-9F6E2DDA936E}"/>
              </a:ext>
            </a:extLst>
          </p:cNvPr>
          <p:cNvSpPr/>
          <p:nvPr/>
        </p:nvSpPr>
        <p:spPr>
          <a:xfrm>
            <a:off x="3418993" y="2536890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No email verification before case submission</a:t>
            </a:r>
            <a:endParaRPr lang="en-US" sz="820" dirty="0"/>
          </a:p>
        </p:txBody>
      </p:sp>
      <p:sp>
        <p:nvSpPr>
          <p:cNvPr id="116" name="Shape 48">
            <a:extLst>
              <a:ext uri="{FF2B5EF4-FFF2-40B4-BE49-F238E27FC236}">
                <a16:creationId xmlns:a16="http://schemas.microsoft.com/office/drawing/2014/main" id="{A0387CDF-6066-EA80-E04E-A54BE6F20F94}"/>
              </a:ext>
            </a:extLst>
          </p:cNvPr>
          <p:cNvSpPr/>
          <p:nvPr/>
        </p:nvSpPr>
        <p:spPr>
          <a:xfrm>
            <a:off x="3236113" y="2949800"/>
            <a:ext cx="109728" cy="1031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7" name="Text 49">
            <a:extLst>
              <a:ext uri="{FF2B5EF4-FFF2-40B4-BE49-F238E27FC236}">
                <a16:creationId xmlns:a16="http://schemas.microsoft.com/office/drawing/2014/main" id="{BF26D0D2-7B28-D9F1-3D1A-82A0C5F4D5C2}"/>
              </a:ext>
            </a:extLst>
          </p:cNvPr>
          <p:cNvSpPr/>
          <p:nvPr/>
        </p:nvSpPr>
        <p:spPr>
          <a:xfrm>
            <a:off x="3418993" y="2829498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Mobile layout partially tested on respond.html</a:t>
            </a:r>
            <a:endParaRPr lang="en-US" sz="820" dirty="0"/>
          </a:p>
        </p:txBody>
      </p:sp>
      <p:sp>
        <p:nvSpPr>
          <p:cNvPr id="120" name="Shape 52">
            <a:extLst>
              <a:ext uri="{FF2B5EF4-FFF2-40B4-BE49-F238E27FC236}">
                <a16:creationId xmlns:a16="http://schemas.microsoft.com/office/drawing/2014/main" id="{1A14E4D8-4FDF-DC0B-A8A9-1FD5B7541143}"/>
              </a:ext>
            </a:extLst>
          </p:cNvPr>
          <p:cNvSpPr/>
          <p:nvPr/>
        </p:nvSpPr>
        <p:spPr>
          <a:xfrm>
            <a:off x="6189625" y="963256"/>
            <a:ext cx="2907792" cy="2387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1" name="Text 53">
            <a:extLst>
              <a:ext uri="{FF2B5EF4-FFF2-40B4-BE49-F238E27FC236}">
                <a16:creationId xmlns:a16="http://schemas.microsoft.com/office/drawing/2014/main" id="{449CB0F4-D5A0-B923-E1E7-174DB9230E8C}"/>
              </a:ext>
            </a:extLst>
          </p:cNvPr>
          <p:cNvSpPr/>
          <p:nvPr/>
        </p:nvSpPr>
        <p:spPr>
          <a:xfrm>
            <a:off x="6281065" y="901264"/>
            <a:ext cx="2743200" cy="300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PLANNED NEXT STEPS</a:t>
            </a:r>
            <a:endParaRPr lang="en-US" sz="950" dirty="0"/>
          </a:p>
        </p:txBody>
      </p:sp>
      <p:sp>
        <p:nvSpPr>
          <p:cNvPr id="122" name="Shape 54">
            <a:extLst>
              <a:ext uri="{FF2B5EF4-FFF2-40B4-BE49-F238E27FC236}">
                <a16:creationId xmlns:a16="http://schemas.microsoft.com/office/drawing/2014/main" id="{20FF246E-CCDE-B89D-2DA0-807F959AF764}"/>
              </a:ext>
            </a:extLst>
          </p:cNvPr>
          <p:cNvSpPr/>
          <p:nvPr/>
        </p:nvSpPr>
        <p:spPr>
          <a:xfrm>
            <a:off x="6189625" y="1203872"/>
            <a:ext cx="2907792" cy="3540559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3" name="Shape 65">
            <a:extLst>
              <a:ext uri="{FF2B5EF4-FFF2-40B4-BE49-F238E27FC236}">
                <a16:creationId xmlns:a16="http://schemas.microsoft.com/office/drawing/2014/main" id="{02715C61-F098-B8AE-76F2-E26AF3439B5C}"/>
              </a:ext>
            </a:extLst>
          </p:cNvPr>
          <p:cNvSpPr/>
          <p:nvPr/>
        </p:nvSpPr>
        <p:spPr>
          <a:xfrm>
            <a:off x="6295353" y="1343019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4" name="Text 66">
            <a:extLst>
              <a:ext uri="{FF2B5EF4-FFF2-40B4-BE49-F238E27FC236}">
                <a16:creationId xmlns:a16="http://schemas.microsoft.com/office/drawing/2014/main" id="{028C2131-30B5-5807-E12E-DBA1877D1BEB}"/>
              </a:ext>
            </a:extLst>
          </p:cNvPr>
          <p:cNvSpPr/>
          <p:nvPr/>
        </p:nvSpPr>
        <p:spPr>
          <a:xfrm>
            <a:off x="6463945" y="1265579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Lawyer review layer for settlement agreements</a:t>
            </a:r>
            <a:endParaRPr lang="en-US" sz="820" dirty="0"/>
          </a:p>
        </p:txBody>
      </p:sp>
      <p:sp>
        <p:nvSpPr>
          <p:cNvPr id="135" name="Shape 67">
            <a:extLst>
              <a:ext uri="{FF2B5EF4-FFF2-40B4-BE49-F238E27FC236}">
                <a16:creationId xmlns:a16="http://schemas.microsoft.com/office/drawing/2014/main" id="{DB7E54AE-629F-9891-9409-2984FB612A92}"/>
              </a:ext>
            </a:extLst>
          </p:cNvPr>
          <p:cNvSpPr/>
          <p:nvPr/>
        </p:nvSpPr>
        <p:spPr>
          <a:xfrm>
            <a:off x="6295353" y="1614195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6" name="Text 68">
            <a:extLst>
              <a:ext uri="{FF2B5EF4-FFF2-40B4-BE49-F238E27FC236}">
                <a16:creationId xmlns:a16="http://schemas.microsoft.com/office/drawing/2014/main" id="{580F3826-1DD3-B156-AF35-E8DA366AA9F0}"/>
              </a:ext>
            </a:extLst>
          </p:cNvPr>
          <p:cNvSpPr/>
          <p:nvPr/>
        </p:nvSpPr>
        <p:spPr>
          <a:xfrm>
            <a:off x="6463945" y="1558187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WhatsApp / SMS notifications via Azure</a:t>
            </a:r>
            <a:endParaRPr lang="en-US" sz="820" dirty="0"/>
          </a:p>
        </p:txBody>
      </p:sp>
      <p:sp>
        <p:nvSpPr>
          <p:cNvPr id="137" name="Shape 69">
            <a:extLst>
              <a:ext uri="{FF2B5EF4-FFF2-40B4-BE49-F238E27FC236}">
                <a16:creationId xmlns:a16="http://schemas.microsoft.com/office/drawing/2014/main" id="{D2B36085-09F1-13C2-EEB0-F03EF91105FE}"/>
              </a:ext>
            </a:extLst>
          </p:cNvPr>
          <p:cNvSpPr/>
          <p:nvPr/>
        </p:nvSpPr>
        <p:spPr>
          <a:xfrm>
            <a:off x="6295353" y="1906803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8" name="Text 70">
            <a:extLst>
              <a:ext uri="{FF2B5EF4-FFF2-40B4-BE49-F238E27FC236}">
                <a16:creationId xmlns:a16="http://schemas.microsoft.com/office/drawing/2014/main" id="{58FD3500-7480-8E91-6C53-B6E4C7EFECFB}"/>
              </a:ext>
            </a:extLst>
          </p:cNvPr>
          <p:cNvSpPr/>
          <p:nvPr/>
        </p:nvSpPr>
        <p:spPr>
          <a:xfrm>
            <a:off x="6463945" y="1850795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10+ Indian language support</a:t>
            </a:r>
            <a:endParaRPr lang="en-US" sz="820" dirty="0"/>
          </a:p>
        </p:txBody>
      </p:sp>
      <p:sp>
        <p:nvSpPr>
          <p:cNvPr id="139" name="Shape 71">
            <a:extLst>
              <a:ext uri="{FF2B5EF4-FFF2-40B4-BE49-F238E27FC236}">
                <a16:creationId xmlns:a16="http://schemas.microsoft.com/office/drawing/2014/main" id="{BB10CFD6-526F-D89C-6918-0E568F338641}"/>
              </a:ext>
            </a:extLst>
          </p:cNvPr>
          <p:cNvSpPr/>
          <p:nvPr/>
        </p:nvSpPr>
        <p:spPr>
          <a:xfrm>
            <a:off x="6295353" y="2199411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0" name="Text 72">
            <a:extLst>
              <a:ext uri="{FF2B5EF4-FFF2-40B4-BE49-F238E27FC236}">
                <a16:creationId xmlns:a16="http://schemas.microsoft.com/office/drawing/2014/main" id="{DF495CB9-4B7F-0E3F-C6AE-307F0768DE72}"/>
              </a:ext>
            </a:extLst>
          </p:cNvPr>
          <p:cNvSpPr/>
          <p:nvPr/>
        </p:nvSpPr>
        <p:spPr>
          <a:xfrm>
            <a:off x="6463945" y="2143403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B2B API for legal-tech platform integrations</a:t>
            </a:r>
            <a:endParaRPr lang="en-US" sz="820" dirty="0"/>
          </a:p>
        </p:txBody>
      </p:sp>
      <p:sp>
        <p:nvSpPr>
          <p:cNvPr id="141" name="Shape 73">
            <a:extLst>
              <a:ext uri="{FF2B5EF4-FFF2-40B4-BE49-F238E27FC236}">
                <a16:creationId xmlns:a16="http://schemas.microsoft.com/office/drawing/2014/main" id="{1F2CA880-24ED-2E1A-C4FE-E7FEF36EDE0E}"/>
              </a:ext>
            </a:extLst>
          </p:cNvPr>
          <p:cNvSpPr/>
          <p:nvPr/>
        </p:nvSpPr>
        <p:spPr>
          <a:xfrm>
            <a:off x="6295353" y="2492019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2" name="Text 74">
            <a:extLst>
              <a:ext uri="{FF2B5EF4-FFF2-40B4-BE49-F238E27FC236}">
                <a16:creationId xmlns:a16="http://schemas.microsoft.com/office/drawing/2014/main" id="{0B26A6AE-FC48-7C7E-F5B7-A02017AFA9FC}"/>
              </a:ext>
            </a:extLst>
          </p:cNvPr>
          <p:cNvSpPr/>
          <p:nvPr/>
        </p:nvSpPr>
        <p:spPr>
          <a:xfrm>
            <a:off x="6463945" y="2436011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Blockchain-anchored settlement records</a:t>
            </a:r>
            <a:endParaRPr lang="en-US" sz="820" dirty="0"/>
          </a:p>
        </p:txBody>
      </p:sp>
      <p:sp>
        <p:nvSpPr>
          <p:cNvPr id="143" name="Shape 75">
            <a:extLst>
              <a:ext uri="{FF2B5EF4-FFF2-40B4-BE49-F238E27FC236}">
                <a16:creationId xmlns:a16="http://schemas.microsoft.com/office/drawing/2014/main" id="{96860767-FABF-9452-191B-74959B1A6C57}"/>
              </a:ext>
            </a:extLst>
          </p:cNvPr>
          <p:cNvSpPr/>
          <p:nvPr/>
        </p:nvSpPr>
        <p:spPr>
          <a:xfrm>
            <a:off x="6295353" y="2784627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4" name="Text 76">
            <a:extLst>
              <a:ext uri="{FF2B5EF4-FFF2-40B4-BE49-F238E27FC236}">
                <a16:creationId xmlns:a16="http://schemas.microsoft.com/office/drawing/2014/main" id="{6816FF7E-6540-65DE-570E-D7B6E23B3DEF}"/>
              </a:ext>
            </a:extLst>
          </p:cNvPr>
          <p:cNvSpPr/>
          <p:nvPr/>
        </p:nvSpPr>
        <p:spPr>
          <a:xfrm>
            <a:off x="6463945" y="2728619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Digital signatures via Azure or DocuSign</a:t>
            </a:r>
            <a:endParaRPr lang="en-US" sz="820" dirty="0"/>
          </a:p>
        </p:txBody>
      </p:sp>
      <p:sp>
        <p:nvSpPr>
          <p:cNvPr id="145" name="Shape 77">
            <a:extLst>
              <a:ext uri="{FF2B5EF4-FFF2-40B4-BE49-F238E27FC236}">
                <a16:creationId xmlns:a16="http://schemas.microsoft.com/office/drawing/2014/main" id="{8752D521-787D-1766-44B6-42D51EB3F102}"/>
              </a:ext>
            </a:extLst>
          </p:cNvPr>
          <p:cNvSpPr/>
          <p:nvPr/>
        </p:nvSpPr>
        <p:spPr>
          <a:xfrm>
            <a:off x="6295353" y="3077235"/>
            <a:ext cx="109728" cy="10312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6" name="Text 78">
            <a:extLst>
              <a:ext uri="{FF2B5EF4-FFF2-40B4-BE49-F238E27FC236}">
                <a16:creationId xmlns:a16="http://schemas.microsoft.com/office/drawing/2014/main" id="{F46086FA-06CD-CBE7-ACBB-44521BBAB3F2}"/>
              </a:ext>
            </a:extLst>
          </p:cNvPr>
          <p:cNvSpPr/>
          <p:nvPr/>
        </p:nvSpPr>
        <p:spPr>
          <a:xfrm>
            <a:off x="6463945" y="2956938"/>
            <a:ext cx="2542032" cy="257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Automated court filing document preparation</a:t>
            </a:r>
            <a:endParaRPr lang="en-US" sz="820" dirty="0"/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09C76CC2-024B-7FE6-8FF5-59153B29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1"/>
            <a:ext cx="1335025" cy="246888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51AC08F9-FF80-5563-A045-35ABA972E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078992" cy="246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1322</Words>
  <Application>Microsoft Office PowerPoint</Application>
  <PresentationFormat>On-screen Show (16:9)</PresentationFormat>
  <Paragraphs>180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LegalAI Resolver — Microsoft UNLOCKED</dc:title>
  <dc:subject>PptxGenJS Presentation</dc:subject>
  <dc:creator>PptxGenJS</dc:creator>
  <cp:lastModifiedBy>MOHIT GUNANI</cp:lastModifiedBy>
  <cp:revision>3</cp:revision>
  <dcterms:created xsi:type="dcterms:W3CDTF">2026-03-07T17:05:28Z</dcterms:created>
  <dcterms:modified xsi:type="dcterms:W3CDTF">2026-03-07T19:53:18Z</dcterms:modified>
</cp:coreProperties>
</file>